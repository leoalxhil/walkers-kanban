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(R$ mil)</c:v>
                </c:pt>
              </c:strCache>
            </c:strRef>
          </c:tx>
          <c:spPr>
            <a:solidFill>
              <a:srgbClr val="7C5CFC"/>
            </a:solidFill>
            <a:ln w="50800" cap="flat">
              <a:solidFill>
                <a:srgbClr val="7C5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5CFC"/>
              </a:solidFill>
              <a:ln w="9525" cap="flat">
                <a:solidFill>
                  <a:srgbClr val="7C5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0.4</c:v>
                </c:pt>
                <c:pt idx="2">
                  <c:v>1.5</c:v>
                </c:pt>
                <c:pt idx="3">
                  <c:v>3.9</c:v>
                </c:pt>
                <c:pt idx="4">
                  <c:v>7.7</c:v>
                </c:pt>
                <c:pt idx="5">
                  <c:v>10.5</c:v>
                </c:pt>
                <c:pt idx="6">
                  <c:v>13.5</c:v>
                </c:pt>
                <c:pt idx="7">
                  <c:v>16.5</c:v>
                </c:pt>
                <c:pt idx="8">
                  <c:v>21</c:v>
                </c:pt>
                <c:pt idx="9">
                  <c:v>25</c:v>
                </c:pt>
                <c:pt idx="10">
                  <c:v>29.5</c:v>
                </c:pt>
                <c:pt idx="11">
                  <c:v>33.9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DEA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914400" cy="4023360"/>
          </a:xfrm>
          <a:prstGeom prst="roundRect">
            <a:avLst>
              <a:gd name="adj" fmla="val 6000"/>
            </a:avLst>
          </a:prstGeom>
          <a:solidFill>
            <a:srgbClr val="1E1640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371600"/>
            <a:ext cx="914400" cy="109728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4" name="Shape 2"/>
          <p:cNvSpPr/>
          <p:nvPr/>
        </p:nvSpPr>
        <p:spPr>
          <a:xfrm>
            <a:off x="8842248" y="1691640"/>
            <a:ext cx="694944" cy="640080"/>
          </a:xfrm>
          <a:prstGeom prst="roundRect">
            <a:avLst>
              <a:gd name="adj" fmla="val 7143"/>
            </a:avLst>
          </a:prstGeom>
          <a:solidFill>
            <a:srgbClr val="2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8842248" y="2560320"/>
            <a:ext cx="694944" cy="640080"/>
          </a:xfrm>
          <a:prstGeom prst="roundRect">
            <a:avLst>
              <a:gd name="adj" fmla="val 7143"/>
            </a:avLst>
          </a:prstGeom>
          <a:solidFill>
            <a:srgbClr val="2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8842248" y="3429000"/>
            <a:ext cx="694944" cy="640080"/>
          </a:xfrm>
          <a:prstGeom prst="roundRect">
            <a:avLst>
              <a:gd name="adj" fmla="val 7143"/>
            </a:avLst>
          </a:prstGeom>
          <a:solidFill>
            <a:srgbClr val="2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9811512" y="1371600"/>
            <a:ext cx="914400" cy="4023360"/>
          </a:xfrm>
          <a:prstGeom prst="roundRect">
            <a:avLst>
              <a:gd name="adj" fmla="val 6000"/>
            </a:avLst>
          </a:prstGeom>
          <a:solidFill>
            <a:srgbClr val="1E1640"/>
          </a:solidFill>
          <a:ln/>
        </p:spPr>
      </p:sp>
      <p:sp>
        <p:nvSpPr>
          <p:cNvPr id="8" name="Shape 6"/>
          <p:cNvSpPr/>
          <p:nvPr/>
        </p:nvSpPr>
        <p:spPr>
          <a:xfrm>
            <a:off x="9811512" y="1371600"/>
            <a:ext cx="914400" cy="1097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9" name="Shape 7"/>
          <p:cNvSpPr/>
          <p:nvPr/>
        </p:nvSpPr>
        <p:spPr>
          <a:xfrm>
            <a:off x="9921240" y="1691640"/>
            <a:ext cx="694944" cy="640080"/>
          </a:xfrm>
          <a:prstGeom prst="roundRect">
            <a:avLst>
              <a:gd name="adj" fmla="val 7143"/>
            </a:avLst>
          </a:prstGeom>
          <a:solidFill>
            <a:srgbClr val="2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921240" y="2606040"/>
            <a:ext cx="694944" cy="640080"/>
          </a:xfrm>
          <a:prstGeom prst="roundRect">
            <a:avLst>
              <a:gd name="adj" fmla="val 7143"/>
            </a:avLst>
          </a:prstGeom>
          <a:solidFill>
            <a:srgbClr val="2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9921240" y="3520440"/>
            <a:ext cx="694944" cy="640080"/>
          </a:xfrm>
          <a:prstGeom prst="roundRect">
            <a:avLst>
              <a:gd name="adj" fmla="val 7143"/>
            </a:avLst>
          </a:prstGeom>
          <a:solidFill>
            <a:srgbClr val="2A215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90504" y="1371600"/>
            <a:ext cx="914400" cy="4023360"/>
          </a:xfrm>
          <a:prstGeom prst="roundRect">
            <a:avLst>
              <a:gd name="adj" fmla="val 6000"/>
            </a:avLst>
          </a:prstGeom>
          <a:solidFill>
            <a:srgbClr val="1E164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90504" y="1371600"/>
            <a:ext cx="91440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00232" y="1691640"/>
            <a:ext cx="694944" cy="640080"/>
          </a:xfrm>
          <a:prstGeom prst="roundRect">
            <a:avLst>
              <a:gd name="adj" fmla="val 7143"/>
            </a:avLst>
          </a:prstGeom>
          <a:solidFill>
            <a:srgbClr val="2A215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00232" y="2560320"/>
            <a:ext cx="694944" cy="640080"/>
          </a:xfrm>
          <a:prstGeom prst="roundRect">
            <a:avLst>
              <a:gd name="adj" fmla="val 7143"/>
            </a:avLst>
          </a:prstGeom>
          <a:solidFill>
            <a:srgbClr val="2A215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00232" y="3429000"/>
            <a:ext cx="694944" cy="640080"/>
          </a:xfrm>
          <a:prstGeom prst="roundRect">
            <a:avLst>
              <a:gd name="adj" fmla="val 7143"/>
            </a:avLst>
          </a:prstGeom>
          <a:solidFill>
            <a:srgbClr val="2A215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PITCH DECK ·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Walkers Kanban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kanban dos consultores de WhatsApp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31520" y="3520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+ CRM + Portal do Cliente + IA — tudo num lugar, em português.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5212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8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freelancers e agências que implementam e gerenciam WhatsApp &amp; e-commerce.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dia a dia de quem implementa é um caos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040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97964"/>
            <a:ext cx="530352" cy="530352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79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000000"/>
                </a:solidFill>
              </a:rPr>
              <a:t>🧩</a:t>
            </a:r>
            <a:endParaRPr lang="en-US" sz="1276" dirty="0"/>
          </a:p>
        </p:txBody>
      </p:sp>
      <p:sp>
        <p:nvSpPr>
          <p:cNvPr id="7" name="Text 5"/>
          <p:cNvSpPr/>
          <p:nvPr/>
        </p:nvSpPr>
        <p:spPr>
          <a:xfrm>
            <a:off x="1600200" y="19293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 genérica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e planilha não falam a língua de quem vive de WhatsApp e e-commerce.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7040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95244"/>
            <a:ext cx="530352" cy="53035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952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000000"/>
                </a:solidFill>
              </a:rPr>
              <a:t>📱</a:t>
            </a:r>
            <a:endParaRPr lang="en-US" sz="1276" dirty="0"/>
          </a:p>
        </p:txBody>
      </p:sp>
      <p:sp>
        <p:nvSpPr>
          <p:cNvPr id="12" name="Text 10"/>
          <p:cNvSpPr/>
          <p:nvPr/>
        </p:nvSpPr>
        <p:spPr>
          <a:xfrm>
            <a:off x="1600200" y="30266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 cobrando no zap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3832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 aí, como tá?” o dia inteiro — sem um lugar pro cliente acompanhar sozinho.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7040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92524"/>
            <a:ext cx="530352" cy="53035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925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000000"/>
                </a:solidFill>
              </a:rPr>
              <a:t>🗂️</a:t>
            </a:r>
            <a:endParaRPr lang="en-US" sz="1276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espalhados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4805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na planilha, conversa no WhatsApp, agenda no Google. Nada conectado.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7040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289804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898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000000"/>
                </a:solidFill>
              </a:rPr>
              <a:t>🎭</a:t>
            </a:r>
            <a:endParaRPr lang="en-US" sz="1276" dirty="0"/>
          </a:p>
        </p:txBody>
      </p:sp>
      <p:sp>
        <p:nvSpPr>
          <p:cNvPr id="22" name="Text 20"/>
          <p:cNvSpPr/>
          <p:nvPr/>
        </p:nvSpPr>
        <p:spPr>
          <a:xfrm>
            <a:off x="1600200" y="52212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Falta profissionalismo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5778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portal nem relatório, fica difícil justificar cobrar mais caro.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1783080"/>
            <a:ext cx="3502152" cy="4206240"/>
          </a:xfrm>
          <a:prstGeom prst="roundRect">
            <a:avLst>
              <a:gd name="adj" fmla="val 2611"/>
            </a:avLst>
          </a:prstGeom>
          <a:solidFill>
            <a:srgbClr val="141029"/>
          </a:solidFill>
          <a:ln/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tempo que some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horas/semana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104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832104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 dando status manual e procurando informação espalhada.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só app, do primeiro contato à entrega aprovada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57400"/>
            <a:ext cx="566928" cy="566928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000000"/>
                </a:solidFill>
              </a:rPr>
              <a:t>🗂️</a:t>
            </a:r>
            <a:endParaRPr lang="en-US" sz="1364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+ Multi-boards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0632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isolados por contexto, com campos personalizados.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205740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000000"/>
                </a:solidFill>
              </a:rPr>
              <a:t>👥</a:t>
            </a:r>
            <a:endParaRPr lang="en-US" sz="1364" dirty="0"/>
          </a:p>
        </p:txBody>
      </p:sp>
      <p:sp>
        <p:nvSpPr>
          <p:cNvPr id="12" name="Text 10"/>
          <p:cNvSpPr/>
          <p:nvPr/>
        </p:nvSpPr>
        <p:spPr>
          <a:xfrm>
            <a:off x="4654296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de Clientes 360°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54296" y="30632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com histórico, faturamento, reuniões e KPIs.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6448" y="1783080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057400"/>
            <a:ext cx="566928" cy="5669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000000"/>
                </a:solidFill>
              </a:rPr>
              <a:t>🌐</a:t>
            </a:r>
            <a:endParaRPr lang="en-US" sz="1364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 do Cliente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0632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white-label pro cliente acompanhar e aprovar entregas.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22192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096512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000000"/>
                </a:solidFill>
              </a:rPr>
              <a:t>🤖</a:t>
            </a:r>
            <a:endParaRPr lang="en-US" sz="1364" dirty="0"/>
          </a:p>
        </p:txBody>
      </p:sp>
      <p:sp>
        <p:nvSpPr>
          <p:cNvPr id="22" name="Text 20"/>
          <p:cNvSpPr/>
          <p:nvPr/>
        </p:nvSpPr>
        <p:spPr>
          <a:xfrm>
            <a:off x="896112" y="473659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Assistente de 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510235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e organiza cards, resume e escreve por você.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98264" y="3822192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409651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654296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000000"/>
                </a:solidFill>
              </a:rPr>
              <a:t>📅</a:t>
            </a:r>
            <a:endParaRPr lang="en-US" sz="1364" dirty="0"/>
          </a:p>
        </p:txBody>
      </p:sp>
      <p:sp>
        <p:nvSpPr>
          <p:cNvPr id="27" name="Text 25"/>
          <p:cNvSpPr/>
          <p:nvPr/>
        </p:nvSpPr>
        <p:spPr>
          <a:xfrm>
            <a:off x="4654296" y="473659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Calendar + Gmail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54296" y="510235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 e-mails viram cards, sem sair do app.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56448" y="3822192"/>
            <a:ext cx="35112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096512"/>
            <a:ext cx="566928" cy="566928"/>
          </a:xfrm>
          <a:prstGeom prst="ellipse">
            <a:avLst/>
          </a:prstGeom>
          <a:solidFill>
            <a:srgbClr val="5B3FD6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000000"/>
                </a:solidFill>
              </a:rPr>
              <a:t>⚡</a:t>
            </a:r>
            <a:endParaRPr lang="en-US" sz="1364" dirty="0"/>
          </a:p>
        </p:txBody>
      </p:sp>
      <p:sp>
        <p:nvSpPr>
          <p:cNvPr id="32" name="Text 30"/>
          <p:cNvSpPr/>
          <p:nvPr/>
        </p:nvSpPr>
        <p:spPr>
          <a:xfrm>
            <a:off x="8412480" y="473659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Automações + Webhooks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510235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Slack, Discord, Make, n8n a cada evento.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PRODUTO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é uma ideia. É um produto v4.26.2 rodando.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Voice-to-card e OCR de print (Tesseract)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burndown, fluxo cumulativo, heatmap, funil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diário + 26 conquistas (gamificação que retém)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de card e fluxo em 1 clique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Goals e Roadmap embutidos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multi-device em tempo real (Firebase)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MCP: controle pelo Claude Desktop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87452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5F2FE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2148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9494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/ views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0" y="187452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5F2FE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0" y="2148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6926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TS/React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3840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5F2FE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4114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94944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92640" y="3840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5F2FE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92640" y="4114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69264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em produção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não Trello, ClickUp ou Notion?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73736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Recurso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Walkers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Trello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ClickUp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Notion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0A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português de verdade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do cliente white-label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✗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✗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de clientes nativo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✗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focada no fluxo de atendimento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WhatsApp + e-commerce BR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✓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✗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✗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✗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inicial (R$/mês)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R$ 39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~R$30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~R$45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~R$50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completo   ·   ~ parcial / genérico   ·   ✗ não tem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nicho grande e mal atendido no Brasil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955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109728" cy="123444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0" y="2057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 total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247802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PMEs brasileiras vendem por WhatsApp e Instagram.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7955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91840"/>
            <a:ext cx="109728" cy="1234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747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286000" y="34747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podemos servir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389534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milhares de freelancers e agências que implementam e gerenciam esse atendimento.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7955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709160"/>
            <a:ext cx="109728" cy="1234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286000" y="4892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do ano 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531266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~365 clientes pagantes — base inicial, validável e lucrativa.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0" y="1874520"/>
            <a:ext cx="2587752" cy="3977640"/>
          </a:xfrm>
          <a:prstGeom prst="roundRect">
            <a:avLst>
              <a:gd name="adj" fmla="val 3534"/>
            </a:avLst>
          </a:prstGeom>
          <a:solidFill>
            <a:srgbClr val="F5F2FE"/>
          </a:solidFill>
          <a:ln w="12700">
            <a:solidFill>
              <a:srgbClr val="E6E2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2194560"/>
            <a:ext cx="2587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🌐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961120" y="288036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Efeito rede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89720" y="33832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implementador atende 5–30 clientes. Cada Portal compartilhado é um novo cliente conhecendo o Walkers.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NEGÓCIO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Planos que crescem com o cliente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2606040" cy="1463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R$ 0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/mês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78408" y="342900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board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cards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portal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38728" y="1645920"/>
            <a:ext cx="2606040" cy="4389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31750">
            <a:solidFill>
              <a:srgbClr val="7C5CFC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645920"/>
            <a:ext cx="2606040" cy="146304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8836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MAIS POPULAR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38728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R$ 39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/mês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858768" y="347472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ilimitado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(200/mês)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portais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Claude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19088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1783080"/>
            <a:ext cx="2606040" cy="14630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19088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R$ 99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/mês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39128" y="342900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usuários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(1.000/mês)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99448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99448" y="1783080"/>
            <a:ext cx="2606040" cy="146304"/>
          </a:xfrm>
          <a:prstGeom prst="rect">
            <a:avLst/>
          </a:prstGeom>
          <a:solidFill>
            <a:srgbClr val="141029"/>
          </a:solidFill>
          <a:ln/>
        </p:spPr>
      </p:sp>
      <p:sp>
        <p:nvSpPr>
          <p:cNvPr id="22" name="Text 20"/>
          <p:cNvSpPr/>
          <p:nvPr/>
        </p:nvSpPr>
        <p:spPr>
          <a:xfrm>
            <a:off x="9299448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99448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10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R$ 297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/mês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619488" y="342900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ilim.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ilimitada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próprio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4h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código ao lançamento em 5 meses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2103120"/>
            <a:ext cx="2103120" cy="54864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Mês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S0–S1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Fundação + Web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794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testes, Sentry, build web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5413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◀ você está aqui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103120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2103120"/>
            <a:ext cx="2103120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Mês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S2–S3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90672" y="31546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Monetização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3794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Stripe + Pix, onboarding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93792" y="2103120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93792" y="2103120"/>
            <a:ext cx="21031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193792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Mês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93792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S4–S5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58384" y="31546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76672" y="3794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premium, mobile PWA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61504" y="2103120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61504" y="2103120"/>
            <a:ext cx="21031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461504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Mês 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61504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S6–S7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26096" y="31546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44384" y="3794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2.0, integrações pagas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729216" y="2103120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29216" y="2103120"/>
            <a:ext cx="2103120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9729216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Mês 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29216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S8–S10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93808" y="31546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12096" y="3794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Site/SEO, retenção, launch BR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Caminho até R$ 30k+ de receita recorrente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7406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874520"/>
            <a:ext cx="3227832" cy="1234440"/>
          </a:xfrm>
          <a:prstGeom prst="roundRect">
            <a:avLst>
              <a:gd name="adj" fmla="val 6667"/>
            </a:avLst>
          </a:prstGeom>
          <a:solidFill>
            <a:srgbClr val="F5F2FE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20391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R$ 180–400k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549640" y="2624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estimado no ano 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291840"/>
            <a:ext cx="3227832" cy="1234440"/>
          </a:xfrm>
          <a:prstGeom prst="roundRect">
            <a:avLst>
              <a:gd name="adj" fmla="val 6667"/>
            </a:avLst>
          </a:prstGeom>
          <a:solidFill>
            <a:srgbClr val="F5F2FE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34564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85%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549640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709160"/>
            <a:ext cx="3227832" cy="1234440"/>
          </a:xfrm>
          <a:prstGeom prst="roundRect">
            <a:avLst>
              <a:gd name="adj" fmla="val 6667"/>
            </a:avLst>
          </a:prstGeom>
          <a:solidFill>
            <a:srgbClr val="F5F2FE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49640" y="48737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~R$ 35k/ano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549640" y="5458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diretos (infra + IA)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ESTAMOS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atual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040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</a:rPr>
              <a:t>✅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572768" y="1965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técnica madura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2768" y="23134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Firebase, multi-device em tempo real, 100+ arquivos, portal já implementado.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7040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81528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</a:rPr>
              <a:t>✅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1572768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0 em andamento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72768" y="33649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24 testes passando, Sentry e páginas legais já no código.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7040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3308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</a:rPr>
              <a:t>🔜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572768" y="4069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 pricing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72768" y="4416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com freelancers reais antes de ligar o billing.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7040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2F3"/>
            </a:solidFill>
            <a:prstDash val="solid"/>
          </a:ln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</a:rPr>
              <a:t>🔜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1572768" y="5120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Destravar escala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72768" y="5468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OAuth do Google, domínio e build web.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1828800"/>
            <a:ext cx="3502152" cy="4206240"/>
          </a:xfrm>
          <a:prstGeom prst="roundRect">
            <a:avLst>
              <a:gd name="adj" fmla="val 2611"/>
            </a:avLst>
          </a:prstGeom>
          <a:solidFill>
            <a:srgbClr val="141029"/>
          </a:solidFill>
          <a:ln/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0" y="2194560"/>
            <a:ext cx="3502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🚀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321040" y="297180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roadmap inteiro já vive dentro do próprio Walkers.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21040" y="4114800"/>
            <a:ext cx="2953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sprints e 80+ subtarefas cadastradas no app — usamos o produto pra construir o produto.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FALTA PRA DESTRAVAR RECEITA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engenharia está pronta. Agora é virar negócio.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E1640"/>
          </a:solidFill>
          <a:ln/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651760"/>
            <a:ext cx="640080" cy="64008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🎯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Fechar nicho + validar pricing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entrevistas com freelancers para confirmar planos e preço.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7744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E1640"/>
          </a:solidFill>
          <a:ln/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65176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💳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no ar (Stripe + Pix)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4069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de 14 dias e os primeiros clientes pagantes.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E1640"/>
          </a:solidFill>
          <a:ln/>
          <a:effectLst>
            <a:outerShdw sx="100000" sy="100000" kx="0" ky="0" algn="bl" rotWithShape="0" blurRad="114300" dist="38100" dir="8100000">
              <a:srgbClr val="1E1B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65176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🚀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832104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 + lançamento BR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4069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OAuth, app web e go-to-market nas comunidades.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contato@walkers.app</a:t>
            </a:r>
            <a:pPr algn="ctr" indent="0" marL="0">
              <a:buNone/>
            </a:pPr>
            <a:r>
              <a:rPr lang="en-US" sz="16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walkers.app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Walkers Kanban — Pitch Deck</dc:title>
  <dc:subject>PptxGenJS Presentation</dc:subject>
  <dc:creator>Walkers</dc:creator>
  <cp:lastModifiedBy>Walkers</cp:lastModifiedBy>
  <cp:revision>1</cp:revision>
  <dcterms:created xsi:type="dcterms:W3CDTF">2026-06-01T12:22:32Z</dcterms:created>
  <dcterms:modified xsi:type="dcterms:W3CDTF">2026-06-01T12:22:32Z</dcterms:modified>
</cp:coreProperties>
</file>